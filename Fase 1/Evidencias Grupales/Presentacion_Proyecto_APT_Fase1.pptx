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tGfWRCdZTK2saGru5dZuM3ePq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5438f4e5_2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f85438f4e5_2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85438f4e5_2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5438f4e5_2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f85438f4e5_2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85438f4e5_2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9377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lou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162" y="75072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DEFINICIÓN DE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94360" y="269748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Plataforma Inteligente de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Gestión Cloud-Native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3434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E6"/>
                </a:solidFill>
                <a:latin typeface="Calibri"/>
                <a:ea typeface="Calibri"/>
                <a:cs typeface="Calibri"/>
                <a:sym typeface="Calibri"/>
              </a:rPr>
              <a:t>Control de inventario en tiempo real y predicción de demanda para PYMEs, sobre una arquitectura 100% cloud-native.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640080" y="5257800"/>
            <a:ext cx="566928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Sebastian Guajardo   ·   Andy Madrid   ·   Ariel Osorio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577900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·  Sede Plaza Norte  · 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 problema que resolvemos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Las PYMEs gestionan su inventario sin herramientas integradas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874520"/>
            <a:ext cx="110642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68680" y="2130552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warning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762" y="2332634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965960" y="2020824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Pérdidas económicas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965960" y="2404872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Quiebres de stock y sobrecostos por sobrestock, con impacto directo en la rentabilidad del negocio.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392424"/>
            <a:ext cx="110642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68680" y="3648456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earch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762" y="3850538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1965960" y="353872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Sin visibilidad en tiempo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965960" y="3922776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No existe información actualizada del inventario disponible en bodega ni en punto de venta.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4910328"/>
            <a:ext cx="110642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68680" y="516636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ears.png"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0762" y="53684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965960" y="505663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Decisiones sin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965960" y="5440680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La ausencia de un software integrado obliga a operar de forma manual y reactiva.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¿Qué estamos construyendo?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plataforma web cloud-native (PWA) para controlar el stock en tiempo real y predecir la demanda mediante Machine Learning, optimizando el reabastecimiento en pequeñas y medianas empresas.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880360"/>
            <a:ext cx="3538728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860804" y="324612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obile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548" y="34838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777240" y="436168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Gestión Web y Móvil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2960" y="4818888"/>
            <a:ext cx="29900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PWA con Next.js, accesible desde cualquier dispositivo, con soporte offline parcial.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06824" y="2880360"/>
            <a:ext cx="3538728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618988" y="324612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ain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6732" y="34838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4535424" y="436168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Predicción de Demanda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81144" y="4818888"/>
            <a:ext cx="29900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Python + Vertex AI generan alertas de reposición antes de un quiebre o sobrestock.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065008" y="2880360"/>
            <a:ext cx="3538728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377172" y="324612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loud.png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4916" y="34838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8293608" y="436168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Infraestructura Cloud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339328" y="4818888"/>
            <a:ext cx="29900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Google Cloud almacena y procesa la información de forma segura y escalable.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¿Quién usa la plataforma?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Tres perfiles de usuario, cada uno con su propio nivel de acceso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1965960"/>
            <a:ext cx="3538728" cy="3566160"/>
          </a:xfrm>
          <a:prstGeom prst="roundRect">
            <a:avLst>
              <a:gd fmla="val 20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815084" y="237744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116" y="263347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777240" y="3657600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Administradores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68680" y="4160520"/>
            <a:ext cx="2898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Toman decisiones estratégicas apoyadas en analítica avanzada, con control total del sistema.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306824" y="1965960"/>
            <a:ext cx="3538728" cy="3566160"/>
          </a:xfrm>
          <a:prstGeom prst="roundRect">
            <a:avLst>
              <a:gd fmla="val 2067" name="adj"/>
            </a:avLst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573268" y="237744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_dark/users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263347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4535424" y="3657600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Supervisores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26864" y="4160520"/>
            <a:ext cx="2898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Controlan la operación general mediante métricas y reportes globales del negocio.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065008" y="1965960"/>
            <a:ext cx="3538728" cy="3566160"/>
          </a:xfrm>
          <a:prstGeom prst="roundRect">
            <a:avLst>
              <a:gd fmla="val 20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9331452" y="237744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7484" y="263347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8293608" y="3657600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Operadores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385048" y="4160520"/>
            <a:ext cx="28986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Registran entradas y salidas de stock, y realizan consultas directamente desde bodega.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10332720" y="-1097280"/>
            <a:ext cx="3291840" cy="3291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Aporte de valor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2148840"/>
            <a:ext cx="3538728" cy="3246120"/>
          </a:xfrm>
          <a:prstGeom prst="roundRect">
            <a:avLst>
              <a:gd fmla="val 2254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860804" y="251460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ain.pn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548" y="27523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777240" y="363016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Predicción Intuitiva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22960" y="4114800"/>
            <a:ext cx="29900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E6"/>
                </a:solidFill>
                <a:latin typeface="Calibri"/>
                <a:ea typeface="Calibri"/>
                <a:cs typeface="Calibri"/>
                <a:sym typeface="Calibri"/>
              </a:rPr>
              <a:t>Alertas automáticas de bajo stock y recomendaciones de reposición mediante Machine Learning.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306824" y="2148840"/>
            <a:ext cx="3538728" cy="3246120"/>
          </a:xfrm>
          <a:prstGeom prst="roundRect">
            <a:avLst>
              <a:gd fmla="val 2254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618988" y="251460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obile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6732" y="27523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4535424" y="363016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Tecnología PWA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81144" y="4114800"/>
            <a:ext cx="29900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E6"/>
                </a:solidFill>
                <a:latin typeface="Calibri"/>
                <a:ea typeface="Calibri"/>
                <a:cs typeface="Calibri"/>
                <a:sym typeface="Calibri"/>
              </a:rPr>
              <a:t>Instalación directa sin tiendas de aplicaciones y funcionamiento parcialmente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065008" y="2148840"/>
            <a:ext cx="3538728" cy="3246120"/>
          </a:xfrm>
          <a:prstGeom prst="roundRect">
            <a:avLst>
              <a:gd fmla="val 2254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377172" y="251460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loud.png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4916" y="27523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8293608" y="3630168"/>
            <a:ext cx="3081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Eficiencia Cloud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339328" y="4114800"/>
            <a:ext cx="29900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E6"/>
                </a:solidFill>
                <a:latin typeface="Calibri"/>
                <a:ea typeface="Calibri"/>
                <a:cs typeface="Calibri"/>
                <a:sym typeface="Calibri"/>
              </a:rPr>
              <a:t>Menores costos de infraestructura, con alta disponibilidad y escalabilidad garantizadas.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Cobertura del ciclo de Ingeniería de Software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El proyecto abarca el ciclo completo de desarrollo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920240"/>
            <a:ext cx="544068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68680" y="2331720"/>
            <a:ext cx="914400" cy="9144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ode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" y="25694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1965960" y="22402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Fullstack y PWA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965960" y="2697480"/>
            <a:ext cx="3794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Desarrollo con Next.js/React en esquema híbrido SSR/CSR.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208776" y="1920240"/>
            <a:ext cx="544068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528816" y="2331720"/>
            <a:ext cx="914400" cy="9144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loud.png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256946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7626096" y="22402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Arquitectura Cloud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626096" y="2697480"/>
            <a:ext cx="3794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Despliegue en Google Cloud Run y Cloud Firestore/SQL.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886200"/>
            <a:ext cx="544068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68680" y="4297680"/>
            <a:ext cx="914400" cy="9144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art.png" id="142" name="Google Shape;14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6424" y="45354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1965960" y="420624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Big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965960" y="4663440"/>
            <a:ext cx="3794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Modelos en Python para la estimación de demanda.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08776" y="3886200"/>
            <a:ext cx="544068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B2A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528816" y="4297680"/>
            <a:ext cx="914400" cy="9144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.png" id="147" name="Google Shape;1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0" y="45354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7626096" y="420624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626096" y="4663440"/>
            <a:ext cx="3794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Autenticación en Firebase Auth y roles de acceso (RBAC).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cloud-native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Cuatro capas desacopladas, desplegadas íntegramente en Google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53134" y="1965960"/>
            <a:ext cx="7863900" cy="932700"/>
          </a:xfrm>
          <a:prstGeom prst="roundRect">
            <a:avLst>
              <a:gd fmla="val 6863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17726" y="2121408"/>
            <a:ext cx="621900" cy="621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obile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030" y="22677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313254" y="2057400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Frontend · PWA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313254" y="2423160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Next.js / React — SSR/CSR híbrido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rot="10800000">
            <a:off x="4211806" y="2903292"/>
            <a:ext cx="146400" cy="118800"/>
          </a:xfrm>
          <a:prstGeom prst="triangle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53134" y="3026664"/>
            <a:ext cx="7863900" cy="932700"/>
          </a:xfrm>
          <a:prstGeom prst="roundRect">
            <a:avLst>
              <a:gd fmla="val 6863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17726" y="3182112"/>
            <a:ext cx="621900" cy="621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lou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030" y="332841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313254" y="3118104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 · Cloud Run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313254" y="3483864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Servicios desplegados de forma serverless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 rot="10800000">
            <a:off x="4211806" y="3963996"/>
            <a:ext cx="146400" cy="118800"/>
          </a:xfrm>
          <a:prstGeom prst="triangle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53134" y="4087368"/>
            <a:ext cx="7863900" cy="932700"/>
          </a:xfrm>
          <a:prstGeom prst="roundRect">
            <a:avLst>
              <a:gd fmla="val 6863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17726" y="4242816"/>
            <a:ext cx="621900" cy="621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database.png" id="173" name="Google Shape;1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030" y="43891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1313254" y="4178808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Datos · Firestore / Cloud 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13254" y="4544568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Almacenamiento de inventario y transacciones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 rot="10800000">
            <a:off x="4211806" y="5024700"/>
            <a:ext cx="146400" cy="118800"/>
          </a:xfrm>
          <a:prstGeom prst="triangle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53134" y="5148072"/>
            <a:ext cx="7863900" cy="932700"/>
          </a:xfrm>
          <a:prstGeom prst="roundRect">
            <a:avLst>
              <a:gd fmla="val 6863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17726" y="5303520"/>
            <a:ext cx="621900" cy="621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ain.png" id="179" name="Google Shape;1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030" y="54498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1313254" y="5239512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 · Vertex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313254" y="5605272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Predicción de demanda con scikit-learn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022525" y="107201"/>
            <a:ext cx="2194500" cy="1776900"/>
          </a:xfrm>
          <a:prstGeom prst="roundRect">
            <a:avLst>
              <a:gd fmla="val 291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754035" y="173929"/>
            <a:ext cx="731400" cy="7314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113955" y="839129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transversal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113955" y="1387769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Firebase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+ Roles (RBAC)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icons/shield.png" id="188" name="Google Shape;18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8627" y="338521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 title="Almacena Mockups-selection.png"/>
          <p:cNvPicPr preferRelativeResize="0"/>
          <p:nvPr/>
        </p:nvPicPr>
        <p:blipFill rotWithShape="1">
          <a:blip r:embed="rId8">
            <a:alphaModFix/>
          </a:blip>
          <a:srcRect b="0" l="0" r="0" t="2172"/>
          <a:stretch/>
        </p:blipFill>
        <p:spPr>
          <a:xfrm>
            <a:off x="8823950" y="411475"/>
            <a:ext cx="2788925" cy="592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Pertinencia con el perfil de egreso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Competencias del plan de estudio abordadas en 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1965960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94944" y="206654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2167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1325880" y="1965960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Gestión de Proyectos Informáticos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2770632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94944" y="287121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29718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325880" y="2770632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Análisis y Planificación de Requerimientos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3575304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94944" y="367588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37764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1325880" y="3575304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Arquitectura de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8640" y="4379976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94944" y="44805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4581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325880" y="4379976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Programación de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208776" y="1965960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355080" y="206654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64" y="2167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6986016" y="1965960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Análisis y Desarrollo de Modelo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208776" y="2770632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355080" y="287121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64" y="29718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6986016" y="2770632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Inteligencia de Negocios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208776" y="3575304"/>
            <a:ext cx="544068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1B2A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355080" y="367588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64" y="37764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6986016" y="3575304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2B"/>
                </a:solidFill>
                <a:latin typeface="Calibri"/>
                <a:ea typeface="Calibri"/>
                <a:cs typeface="Calibri"/>
                <a:sym typeface="Calibri"/>
              </a:rPr>
              <a:t>Calidad de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Dashboard de inventario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Vista principal para administradores y supervisores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9" title="adfadfadfadfa.png"/>
          <p:cNvPicPr preferRelativeResize="0"/>
          <p:nvPr/>
        </p:nvPicPr>
        <p:blipFill rotWithShape="1">
          <a:blip r:embed="rId3">
            <a:alphaModFix/>
          </a:blip>
          <a:srcRect b="0" l="0" r="0" t="2997"/>
          <a:stretch/>
        </p:blipFill>
        <p:spPr>
          <a:xfrm>
            <a:off x="1877667" y="1312850"/>
            <a:ext cx="8477501" cy="529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Alertas y predicción de demanda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Recomendaciones de reposición generadas por el modelo de 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0" title="Almacena Mockups-selectionadfadfa.png"/>
          <p:cNvPicPr preferRelativeResize="0"/>
          <p:nvPr/>
        </p:nvPicPr>
        <p:blipFill rotWithShape="1">
          <a:blip r:embed="rId3">
            <a:alphaModFix/>
          </a:blip>
          <a:srcRect b="0" l="0" r="0" t="2124"/>
          <a:stretch/>
        </p:blipFill>
        <p:spPr>
          <a:xfrm>
            <a:off x="1859688" y="1283125"/>
            <a:ext cx="8442148" cy="53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5438f4e5_2_68"/>
          <p:cNvSpPr/>
          <p:nvPr/>
        </p:nvSpPr>
        <p:spPr>
          <a:xfrm>
            <a:off x="548640" y="41148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</a:t>
            </a:r>
            <a:r>
              <a:rPr b="1" lang="en-US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MAPA 2D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85438f4e5_2_68"/>
          <p:cNvSpPr/>
          <p:nvPr/>
        </p:nvSpPr>
        <p:spPr>
          <a:xfrm>
            <a:off x="548640" y="98755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Recomendaciones de reposición generadas por el modelo de 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85438f4e5_2_68"/>
          <p:cNvSpPr/>
          <p:nvPr/>
        </p:nvSpPr>
        <p:spPr>
          <a:xfrm>
            <a:off x="457200" y="654710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85438f4e5_2_68"/>
          <p:cNvSpPr/>
          <p:nvPr/>
        </p:nvSpPr>
        <p:spPr>
          <a:xfrm>
            <a:off x="11338560" y="6547104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g3f85438f4e5_2_68" title="adfadfad.png"/>
          <p:cNvPicPr preferRelativeResize="0"/>
          <p:nvPr/>
        </p:nvPicPr>
        <p:blipFill rotWithShape="1">
          <a:blip r:embed="rId3">
            <a:alphaModFix/>
          </a:blip>
          <a:srcRect b="0" l="0" r="0" t="2837"/>
          <a:stretch/>
        </p:blipFill>
        <p:spPr>
          <a:xfrm>
            <a:off x="1686425" y="1323171"/>
            <a:ext cx="8390026" cy="52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5438f4e5_2_142"/>
          <p:cNvSpPr/>
          <p:nvPr/>
        </p:nvSpPr>
        <p:spPr>
          <a:xfrm>
            <a:off x="548640" y="41148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</a:t>
            </a:r>
            <a:r>
              <a:rPr b="1" lang="en-US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Mobil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85438f4e5_2_142"/>
          <p:cNvSpPr/>
          <p:nvPr/>
        </p:nvSpPr>
        <p:spPr>
          <a:xfrm>
            <a:off x="548640" y="98755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Recomendaciones de reposición generadas por el modelo de 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85438f4e5_2_142"/>
          <p:cNvSpPr/>
          <p:nvPr/>
        </p:nvSpPr>
        <p:spPr>
          <a:xfrm>
            <a:off x="457200" y="654710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85438f4e5_2_142"/>
          <p:cNvSpPr/>
          <p:nvPr/>
        </p:nvSpPr>
        <p:spPr>
          <a:xfrm>
            <a:off x="11338560" y="6547104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3f85438f4e5_2_142" title="Almacena Mockups-selectionaaaaaa.png"/>
          <p:cNvPicPr preferRelativeResize="0"/>
          <p:nvPr/>
        </p:nvPicPr>
        <p:blipFill rotWithShape="1">
          <a:blip r:embed="rId3">
            <a:alphaModFix/>
          </a:blip>
          <a:srcRect b="0" l="0" r="0" t="2515"/>
          <a:stretch/>
        </p:blipFill>
        <p:spPr>
          <a:xfrm>
            <a:off x="6410722" y="1479738"/>
            <a:ext cx="2320051" cy="491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f85438f4e5_2_142" title="Almacena Mockups-selectionaaa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847" y="1505652"/>
            <a:ext cx="2320036" cy="488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f85438f4e5_2_142" title="aa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8284" y="1505652"/>
            <a:ext cx="2320036" cy="488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f85438f4e5_2_142" title="Almacena Mockups-selection.png"/>
          <p:cNvPicPr preferRelativeResize="0"/>
          <p:nvPr/>
        </p:nvPicPr>
        <p:blipFill rotWithShape="1">
          <a:blip r:embed="rId6">
            <a:alphaModFix/>
          </a:blip>
          <a:srcRect b="0" l="0" r="0" t="3044"/>
          <a:stretch/>
        </p:blipFill>
        <p:spPr>
          <a:xfrm>
            <a:off x="8883209" y="1493129"/>
            <a:ext cx="2320051" cy="4888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8F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Planificación general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Distribución de fases a lo largo del período académico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2834640" y="171907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Semana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1"/>
          <p:cNvCxnSpPr/>
          <p:nvPr/>
        </p:nvCxnSpPr>
        <p:spPr>
          <a:xfrm>
            <a:off x="2834640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1"/>
          <p:cNvSpPr/>
          <p:nvPr/>
        </p:nvSpPr>
        <p:spPr>
          <a:xfrm>
            <a:off x="2697480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1"/>
          <p:cNvCxnSpPr/>
          <p:nvPr/>
        </p:nvCxnSpPr>
        <p:spPr>
          <a:xfrm>
            <a:off x="3739415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1"/>
          <p:cNvSpPr/>
          <p:nvPr/>
        </p:nvSpPr>
        <p:spPr>
          <a:xfrm>
            <a:off x="3602255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1"/>
          <p:cNvCxnSpPr/>
          <p:nvPr/>
        </p:nvCxnSpPr>
        <p:spPr>
          <a:xfrm>
            <a:off x="4644189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1"/>
          <p:cNvSpPr/>
          <p:nvPr/>
        </p:nvSpPr>
        <p:spPr>
          <a:xfrm>
            <a:off x="4507029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1"/>
          <p:cNvCxnSpPr/>
          <p:nvPr/>
        </p:nvCxnSpPr>
        <p:spPr>
          <a:xfrm>
            <a:off x="5548964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1"/>
          <p:cNvSpPr/>
          <p:nvPr/>
        </p:nvSpPr>
        <p:spPr>
          <a:xfrm>
            <a:off x="5411804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1"/>
          <p:cNvCxnSpPr/>
          <p:nvPr/>
        </p:nvCxnSpPr>
        <p:spPr>
          <a:xfrm>
            <a:off x="6453739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6316579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1"/>
          <p:cNvCxnSpPr/>
          <p:nvPr/>
        </p:nvCxnSpPr>
        <p:spPr>
          <a:xfrm>
            <a:off x="7358514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/>
          <p:nvPr/>
        </p:nvSpPr>
        <p:spPr>
          <a:xfrm>
            <a:off x="7221354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1"/>
          <p:cNvCxnSpPr/>
          <p:nvPr/>
        </p:nvCxnSpPr>
        <p:spPr>
          <a:xfrm>
            <a:off x="8263288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1"/>
          <p:cNvSpPr/>
          <p:nvPr/>
        </p:nvSpPr>
        <p:spPr>
          <a:xfrm>
            <a:off x="8126128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1"/>
          <p:cNvCxnSpPr/>
          <p:nvPr/>
        </p:nvCxnSpPr>
        <p:spPr>
          <a:xfrm>
            <a:off x="9168063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1"/>
          <p:cNvSpPr/>
          <p:nvPr/>
        </p:nvSpPr>
        <p:spPr>
          <a:xfrm>
            <a:off x="9030903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10072838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9935678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1"/>
          <p:cNvCxnSpPr/>
          <p:nvPr/>
        </p:nvCxnSpPr>
        <p:spPr>
          <a:xfrm>
            <a:off x="10977613" y="2011680"/>
            <a:ext cx="0" cy="3566160"/>
          </a:xfrm>
          <a:prstGeom prst="straightConnector1">
            <a:avLst/>
          </a:prstGeom>
          <a:noFill/>
          <a:ln cap="flat" cmpd="sng" w="9525">
            <a:solidFill>
              <a:srgbClr val="DC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1"/>
          <p:cNvSpPr/>
          <p:nvPr/>
        </p:nvSpPr>
        <p:spPr>
          <a:xfrm>
            <a:off x="10840453" y="171907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8640" y="219456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1 — Definición y diseño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834640" y="2240280"/>
            <a:ext cx="1809549" cy="457200"/>
          </a:xfrm>
          <a:prstGeom prst="roundRect">
            <a:avLst>
              <a:gd fmla="val 14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2834640" y="2240280"/>
            <a:ext cx="1809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S1–S4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272491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864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2 — Desarrollo e implementación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644189" y="3429000"/>
            <a:ext cx="5428648" cy="457200"/>
          </a:xfrm>
          <a:prstGeom prst="roundRect">
            <a:avLst>
              <a:gd fmla="val 14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644189" y="3429000"/>
            <a:ext cx="5428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S5–S16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48640" y="39136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Planificada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48640" y="457200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3 — Integración, pruebas y entrega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620451" y="4617720"/>
            <a:ext cx="1809549" cy="457200"/>
          </a:xfrm>
          <a:prstGeom prst="roundRect">
            <a:avLst>
              <a:gd fmla="val 14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9620451" y="4617720"/>
            <a:ext cx="18095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S16–S19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48640" y="5102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Planificada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7A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Estado actual y próximos pasos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fmla="val 1702" name="adj"/>
            </a:avLst>
          </a:prstGeom>
          <a:solidFill>
            <a:srgbClr val="1A2550"/>
          </a:solidFill>
          <a:ln cap="flat" cmpd="sng" w="9525">
            <a:solidFill>
              <a:srgbClr val="2C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B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6FE3B4"/>
                </a:solidFill>
                <a:latin typeface="Cambria"/>
                <a:ea typeface="Cambria"/>
                <a:cs typeface="Cambria"/>
                <a:sym typeface="Cambria"/>
              </a:rPr>
              <a:t>Completado en esta fase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868680" y="2423160"/>
            <a:ext cx="365760" cy="365760"/>
          </a:xfrm>
          <a:prstGeom prst="ellipse">
            <a:avLst/>
          </a:prstGeom>
          <a:solidFill>
            <a:srgbClr val="2C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496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1371600" y="23774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Antecedentes del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68680" y="2990088"/>
            <a:ext cx="365760" cy="365760"/>
          </a:xfrm>
          <a:prstGeom prst="ellipse">
            <a:avLst/>
          </a:prstGeom>
          <a:solidFill>
            <a:srgbClr val="2C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30632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1371600" y="294436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del Proyecto APT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868680" y="3557016"/>
            <a:ext cx="365760" cy="365760"/>
          </a:xfrm>
          <a:prstGeom prst="ellipse">
            <a:avLst/>
          </a:prstGeom>
          <a:solidFill>
            <a:srgbClr val="2C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327" name="Google Shape;3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36301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/>
          <p:nvPr/>
        </p:nvSpPr>
        <p:spPr>
          <a:xfrm>
            <a:off x="1371600" y="3511296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Fundamentación: problema, contexto y 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68680" y="4123944"/>
            <a:ext cx="365760" cy="365760"/>
          </a:xfrm>
          <a:prstGeom prst="ellipse">
            <a:avLst/>
          </a:prstGeom>
          <a:solidFill>
            <a:srgbClr val="2C9E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.png" id="330" name="Google Shape;3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41970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/>
          <p:nvPr/>
        </p:nvSpPr>
        <p:spPr>
          <a:xfrm>
            <a:off x="1371600" y="4078224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Aporte de valor y pertinencia profesional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172200" y="1737360"/>
            <a:ext cx="5440680" cy="4297680"/>
          </a:xfrm>
          <a:prstGeom prst="roundRect">
            <a:avLst>
              <a:gd fmla="val 1702" name="adj"/>
            </a:avLst>
          </a:prstGeom>
          <a:solidFill>
            <a:srgbClr val="1A2550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rPr>
              <a:t>Pendiente para completar el documento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492240" y="24231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route.png" id="335" name="Google Shape;3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25054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6995160" y="23774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generales y específicos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492240" y="299008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route.png" id="338" name="Google Shape;33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30723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6995160" y="29443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de trabajo del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492240" y="3557016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route.png" id="341" name="Google Shape;3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36393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6995160" y="351129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Evidencias de avance y entrega 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492240" y="4123944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route.png" id="344" name="Google Shape;3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4206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/>
          <p:nvPr/>
        </p:nvSpPr>
        <p:spPr>
          <a:xfrm>
            <a:off x="6995160" y="407822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trabajo detallado por actividad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492240" y="469087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route.png" id="347" name="Google Shape;3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47731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/>
          <p:nvPr/>
        </p:nvSpPr>
        <p:spPr>
          <a:xfrm>
            <a:off x="6995160" y="464515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Carta Gantt definitiva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Cloud-Native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8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8C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2026-08-24T23:49:49Z</dcterms:created>
  <dc:creator>PptxGenJS</dc:creator>
</cp:coreProperties>
</file>